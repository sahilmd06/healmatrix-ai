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37947600"/>
  <p:notesSz cx="37947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lMD06/HealMatrix-AI" TargetMode="External"/><Relationship Id="rId8" Type="http://schemas.openxmlformats.org/officeDocument/2006/relationships/hyperlink" Target="https://github.com/SahilMD06/HealMatrix-AI" TargetMode="Externa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484632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51560"/>
            <a:ext cx="3291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HealMatrix AI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3291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Sustainable Healthcare Intelligence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3291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Sustainable Hospitals Through Collaborative Agentic AI</a:t>
            </a:r>
            <a:endParaRPr lang="en-US" sz="20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0" y="4160520"/>
            <a:ext cx="3291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https://github.com/SahilMD06/HealMatrix-AI   ·   Sahil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54864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9C8F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5431536"/>
            <a:ext cx="1421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80160" y="6172200"/>
            <a:ext cx="868680" cy="86868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0" name="Image 0" descr="/tmp/docgen/icons/problem_tri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643" y="638068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468880" y="612648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under pressure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468880" y="6629400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and severity decisions made from memory, not real-time data — risking under-triage.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280160" y="7818120"/>
            <a:ext cx="868680" cy="86868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4" name="Image 1" descr="/tmp/docgen/icons/problem_e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643" y="802660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777240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tracked blind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468880" y="8275320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water &amp; biomedical waste logged monthly, if at all — no real-time visibility.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1280160" y="9464040"/>
            <a:ext cx="868680" cy="86868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8" name="Image 2" descr="/tmp/docgen/icons/problem_hm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643" y="9672523"/>
            <a:ext cx="451714" cy="45171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468880" y="941832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systems don't reason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468880" y="9921240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software digitises records but never decides or acts on them.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16916400" y="54864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9C8F"/>
          </a:solidFill>
          <a:ln/>
        </p:spPr>
      </p:sp>
      <p:sp>
        <p:nvSpPr>
          <p:cNvPr id="22" name="Text 17"/>
          <p:cNvSpPr/>
          <p:nvPr/>
        </p:nvSpPr>
        <p:spPr>
          <a:xfrm>
            <a:off x="17419320" y="5431536"/>
            <a:ext cx="1421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16916400" y="6172200"/>
            <a:ext cx="868680" cy="868680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24" name="Image 3" descr="/tmp/docgen/icons/sol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4883" y="6380683"/>
            <a:ext cx="451714" cy="45171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105120" y="612648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triage + bed allocation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8105120" y="6629400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hard-coded clinical guardrails — sub-second decisions, full rationale.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16916400" y="7818120"/>
            <a:ext cx="868680" cy="868680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28" name="Image 4" descr="/tmp/docgen/icons/sol_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4883" y="8026603"/>
            <a:ext cx="451714" cy="45171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8105120" y="777240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collaborating agents (LangGraph)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18105120" y="8275320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water, waste, medicine, dispatch — one shared state, no blind spots.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16916400" y="9464040"/>
            <a:ext cx="868680" cy="868680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32" name="Image 5" descr="/tmp/docgen/icons/sol_cre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24883" y="9672523"/>
            <a:ext cx="451714" cy="45171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8105120" y="941832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executive synthesis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18105120" y="9921240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agent outputs become one ranked action plan, every cycle.</a:t>
            </a:r>
            <a:endParaRPr lang="en-US" sz="1450" dirty="0"/>
          </a:p>
        </p:txBody>
      </p:sp>
      <p:sp>
        <p:nvSpPr>
          <p:cNvPr id="35" name="Shape 27"/>
          <p:cNvSpPr/>
          <p:nvPr/>
        </p:nvSpPr>
        <p:spPr>
          <a:xfrm>
            <a:off x="1280160" y="11612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9C8F"/>
          </a:solidFill>
          <a:ln/>
        </p:spPr>
      </p:sp>
      <p:sp>
        <p:nvSpPr>
          <p:cNvPr id="36" name="Text 28"/>
          <p:cNvSpPr/>
          <p:nvPr/>
        </p:nvSpPr>
        <p:spPr>
          <a:xfrm>
            <a:off x="1783080" y="11558016"/>
            <a:ext cx="2985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37" name="Shape 29"/>
          <p:cNvSpPr/>
          <p:nvPr/>
        </p:nvSpPr>
        <p:spPr>
          <a:xfrm>
            <a:off x="2674620" y="12527280"/>
            <a:ext cx="6309360" cy="1965960"/>
          </a:xfrm>
          <a:prstGeom prst="roundRect">
            <a:avLst>
              <a:gd name="adj" fmla="val 6512"/>
            </a:avLst>
          </a:prstGeom>
          <a:solidFill>
            <a:srgbClr val="F2F6F8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857500" y="127833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UI</a:t>
            </a:r>
            <a:endParaRPr lang="en-US" sz="1900" dirty="0"/>
          </a:p>
        </p:txBody>
      </p:sp>
      <p:sp>
        <p:nvSpPr>
          <p:cNvPr id="39" name="Text 31"/>
          <p:cNvSpPr/>
          <p:nvPr/>
        </p:nvSpPr>
        <p:spPr>
          <a:xfrm>
            <a:off x="2857500" y="13578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· Leaflet digital twin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8983980" y="13510260"/>
            <a:ext cx="777240" cy="0"/>
          </a:xfrm>
          <a:prstGeom prst="line">
            <a:avLst/>
          </a:prstGeom>
          <a:noFill/>
          <a:ln w="38100">
            <a:solidFill>
              <a:srgbClr val="1C9C8F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9761220" y="12527280"/>
            <a:ext cx="6309360" cy="1965960"/>
          </a:xfrm>
          <a:prstGeom prst="roundRect">
            <a:avLst>
              <a:gd name="adj" fmla="val 6512"/>
            </a:avLst>
          </a:prstGeom>
          <a:solidFill>
            <a:srgbClr val="F2F6F8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944100" y="127833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900" dirty="0"/>
          </a:p>
        </p:txBody>
      </p:sp>
      <p:sp>
        <p:nvSpPr>
          <p:cNvPr id="43" name="Text 35"/>
          <p:cNvSpPr/>
          <p:nvPr/>
        </p:nvSpPr>
        <p:spPr>
          <a:xfrm>
            <a:off x="9944100" y="13578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/ Async · MongoDB Atlas</a:t>
            </a:r>
            <a:endParaRPr lang="en-US" sz="1350" dirty="0"/>
          </a:p>
        </p:txBody>
      </p:sp>
      <p:sp>
        <p:nvSpPr>
          <p:cNvPr id="44" name="Shape 36"/>
          <p:cNvSpPr/>
          <p:nvPr/>
        </p:nvSpPr>
        <p:spPr>
          <a:xfrm>
            <a:off x="16070580" y="13510260"/>
            <a:ext cx="777240" cy="0"/>
          </a:xfrm>
          <a:prstGeom prst="line">
            <a:avLst/>
          </a:prstGeom>
          <a:noFill/>
          <a:ln w="38100">
            <a:solidFill>
              <a:srgbClr val="1C9C8F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16847820" y="12527280"/>
            <a:ext cx="6309360" cy="1965960"/>
          </a:xfrm>
          <a:prstGeom prst="roundRect">
            <a:avLst>
              <a:gd name="adj" fmla="val 6512"/>
            </a:avLst>
          </a:prstGeom>
          <a:solidFill>
            <a:srgbClr val="F2F6F8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17030700" y="127833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Orchestrator</a:t>
            </a:r>
            <a:endParaRPr lang="en-US" sz="1900" dirty="0"/>
          </a:p>
        </p:txBody>
      </p:sp>
      <p:sp>
        <p:nvSpPr>
          <p:cNvPr id="47" name="Text 39"/>
          <p:cNvSpPr/>
          <p:nvPr/>
        </p:nvSpPr>
        <p:spPr>
          <a:xfrm>
            <a:off x="17030700" y="13578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(HealMatrixState)</a:t>
            </a:r>
            <a:endParaRPr lang="en-US" sz="1350" dirty="0"/>
          </a:p>
        </p:txBody>
      </p:sp>
      <p:sp>
        <p:nvSpPr>
          <p:cNvPr id="48" name="Shape 40"/>
          <p:cNvSpPr/>
          <p:nvPr/>
        </p:nvSpPr>
        <p:spPr>
          <a:xfrm>
            <a:off x="23157180" y="13510260"/>
            <a:ext cx="777240" cy="0"/>
          </a:xfrm>
          <a:prstGeom prst="line">
            <a:avLst/>
          </a:prstGeom>
          <a:noFill/>
          <a:ln w="38100">
            <a:solidFill>
              <a:srgbClr val="1C9C8F"/>
            </a:solidFill>
            <a:prstDash val="solid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23934420" y="12527280"/>
            <a:ext cx="6309360" cy="1965960"/>
          </a:xfrm>
          <a:prstGeom prst="roundRect">
            <a:avLst>
              <a:gd name="adj" fmla="val 6512"/>
            </a:avLst>
          </a:prstGeom>
          <a:solidFill>
            <a:srgbClr val="F2F6F8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24117300" y="127833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Agents</a:t>
            </a:r>
            <a:endParaRPr lang="en-US" sz="1900" dirty="0"/>
          </a:p>
        </p:txBody>
      </p:sp>
      <p:sp>
        <p:nvSpPr>
          <p:cNvPr id="51" name="Text 43"/>
          <p:cNvSpPr/>
          <p:nvPr/>
        </p:nvSpPr>
        <p:spPr>
          <a:xfrm>
            <a:off x="24117300" y="13578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RAG · Gemini · ML artefacts</a:t>
            </a:r>
            <a:endParaRPr lang="en-US" sz="1350" dirty="0"/>
          </a:p>
        </p:txBody>
      </p:sp>
      <p:sp>
        <p:nvSpPr>
          <p:cNvPr id="52" name="Shape 44"/>
          <p:cNvSpPr/>
          <p:nvPr/>
        </p:nvSpPr>
        <p:spPr>
          <a:xfrm>
            <a:off x="2674620" y="15133320"/>
            <a:ext cx="134645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2948940" y="15297912"/>
            <a:ext cx="12915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Arrival — Triage + Bed Allocation run synchronously, decision ready in under a second.</a:t>
            </a:r>
            <a:endParaRPr lang="en-US" sz="1400" dirty="0"/>
          </a:p>
        </p:txBody>
      </p:sp>
      <p:sp>
        <p:nvSpPr>
          <p:cNvPr id="54" name="Shape 46"/>
          <p:cNvSpPr/>
          <p:nvPr/>
        </p:nvSpPr>
        <p:spPr>
          <a:xfrm>
            <a:off x="16779240" y="15133320"/>
            <a:ext cx="134645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1C9C8F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17053560" y="15297912"/>
            <a:ext cx="12915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Cycle (hourly) — all 10 agents run, Executive crew synthesises one ranked action plan.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1280160" y="17373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9C8F"/>
          </a:solidFill>
          <a:ln/>
        </p:spPr>
      </p:sp>
      <p:sp>
        <p:nvSpPr>
          <p:cNvPr id="57" name="Text 49"/>
          <p:cNvSpPr/>
          <p:nvPr/>
        </p:nvSpPr>
        <p:spPr>
          <a:xfrm>
            <a:off x="1783080" y="17318736"/>
            <a:ext cx="2985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AGENTS, ONE HOSPITAL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8059400"/>
          <a:ext cx="30358080" cy="7863840"/>
        </p:xfrm>
        <a:graphic>
          <a:graphicData uri="http://schemas.openxmlformats.org/drawingml/2006/table">
            <a:tbl>
              <a:tblPr/>
              <a:tblGrid>
                <a:gridCol w="7315200"/>
                <a:gridCol w="8412480"/>
                <a:gridCol w="14630400"/>
              </a:tblGrid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Intelligence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Patient Triage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XGBoost + Gemini rationale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ESI classification, department routing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Disease Forecast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SARIMA / XGBoost regressor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Seasonal outbreak &amp; admission forecasting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Bed Allocation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Constraint solver + LOS regressor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Bed/ICU assignment, discharge prediction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Medicine Intelligence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XGBoost + optimisation heuristic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Demand forecast, expiry risk, transfers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Energy Optimization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Gradient-boosted regressor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Load forecast, HVAC setpoints, renewable shift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Water Conservation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IsolationForest anomaly detection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Leak detection, usage forecast, harvesting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Biomedical Waste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Rules + CPCB knowledge base (RAG)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Category classification, pickup scheduling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Carbon Intelligence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Emission-factor engine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Emission accounting, sustainability score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Ambulance Dispatch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Haversine + OSRM road routing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Nearest-hospital routing, priority queue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4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</a:rPr>
                        <a:t>Executive Decision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A"/>
                          </a:solidFill>
                        </a:rPr>
                        <a:t>Gemini + CrewAI executive crew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Synthesises all agents into one action plan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9" name="Shape 50"/>
          <p:cNvSpPr/>
          <p:nvPr/>
        </p:nvSpPr>
        <p:spPr>
          <a:xfrm>
            <a:off x="1280160" y="267004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9C8F"/>
          </a:solidFill>
          <a:ln/>
        </p:spPr>
      </p:sp>
      <p:sp>
        <p:nvSpPr>
          <p:cNvPr id="60" name="Text 51"/>
          <p:cNvSpPr/>
          <p:nvPr/>
        </p:nvSpPr>
        <p:spPr>
          <a:xfrm>
            <a:off x="1783080" y="26645616"/>
            <a:ext cx="1421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VERIFIED</a:t>
            </a:r>
            <a:endParaRPr lang="en-US" sz="2000" dirty="0"/>
          </a:p>
        </p:txBody>
      </p:sp>
      <p:sp>
        <p:nvSpPr>
          <p:cNvPr id="61" name="Shape 52"/>
          <p:cNvSpPr/>
          <p:nvPr/>
        </p:nvSpPr>
        <p:spPr>
          <a:xfrm>
            <a:off x="1280160" y="27477720"/>
            <a:ext cx="14721840" cy="182880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62" name="Text 53"/>
          <p:cNvSpPr/>
          <p:nvPr/>
        </p:nvSpPr>
        <p:spPr>
          <a:xfrm>
            <a:off x="1554480" y="276148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4600" dirty="0"/>
          </a:p>
        </p:txBody>
      </p:sp>
      <p:sp>
        <p:nvSpPr>
          <p:cNvPr id="63" name="Text 54"/>
          <p:cNvSpPr/>
          <p:nvPr/>
        </p:nvSpPr>
        <p:spPr>
          <a:xfrm>
            <a:off x="4114800" y="27614880"/>
            <a:ext cx="1161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passing</a:t>
            </a:r>
            <a:endParaRPr lang="en-US" sz="1700" dirty="0"/>
          </a:p>
        </p:txBody>
      </p:sp>
      <p:sp>
        <p:nvSpPr>
          <p:cNvPr id="64" name="Shape 55"/>
          <p:cNvSpPr/>
          <p:nvPr/>
        </p:nvSpPr>
        <p:spPr>
          <a:xfrm>
            <a:off x="1280160" y="29626560"/>
            <a:ext cx="14721840" cy="182880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65" name="Text 56"/>
          <p:cNvSpPr/>
          <p:nvPr/>
        </p:nvSpPr>
        <p:spPr>
          <a:xfrm>
            <a:off x="1554480" y="297637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600" dirty="0"/>
          </a:p>
        </p:txBody>
      </p:sp>
      <p:sp>
        <p:nvSpPr>
          <p:cNvPr id="66" name="Text 57"/>
          <p:cNvSpPr/>
          <p:nvPr/>
        </p:nvSpPr>
        <p:spPr>
          <a:xfrm>
            <a:off x="4114800" y="29763720"/>
            <a:ext cx="1161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 passing</a:t>
            </a:r>
            <a:endParaRPr lang="en-US" sz="1700" dirty="0"/>
          </a:p>
        </p:txBody>
      </p:sp>
      <p:sp>
        <p:nvSpPr>
          <p:cNvPr id="67" name="Shape 58"/>
          <p:cNvSpPr/>
          <p:nvPr/>
        </p:nvSpPr>
        <p:spPr>
          <a:xfrm>
            <a:off x="1280160" y="31775400"/>
            <a:ext cx="14721840" cy="182880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68" name="Text 59"/>
          <p:cNvSpPr/>
          <p:nvPr/>
        </p:nvSpPr>
        <p:spPr>
          <a:xfrm>
            <a:off x="1554480" y="319125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600" dirty="0"/>
          </a:p>
        </p:txBody>
      </p:sp>
      <p:sp>
        <p:nvSpPr>
          <p:cNvPr id="69" name="Text 60"/>
          <p:cNvSpPr/>
          <p:nvPr/>
        </p:nvSpPr>
        <p:spPr>
          <a:xfrm>
            <a:off x="4114800" y="31912560"/>
            <a:ext cx="1161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shipped</a:t>
            </a:r>
            <a:endParaRPr lang="en-US" sz="1700" dirty="0"/>
          </a:p>
        </p:txBody>
      </p:sp>
      <p:sp>
        <p:nvSpPr>
          <p:cNvPr id="70" name="Shape 61"/>
          <p:cNvSpPr/>
          <p:nvPr/>
        </p:nvSpPr>
        <p:spPr>
          <a:xfrm>
            <a:off x="1280160" y="33924240"/>
            <a:ext cx="14721840" cy="182880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71" name="Text 62"/>
          <p:cNvSpPr/>
          <p:nvPr/>
        </p:nvSpPr>
        <p:spPr>
          <a:xfrm>
            <a:off x="1554480" y="34061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72" name="Text 63"/>
          <p:cNvSpPr/>
          <p:nvPr/>
        </p:nvSpPr>
        <p:spPr>
          <a:xfrm>
            <a:off x="4114800" y="34061400"/>
            <a:ext cx="1161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caught &amp; fixed</a:t>
            </a:r>
            <a:endParaRPr lang="en-US" sz="1700" dirty="0"/>
          </a:p>
        </p:txBody>
      </p:sp>
      <p:sp>
        <p:nvSpPr>
          <p:cNvPr id="73" name="Shape 64"/>
          <p:cNvSpPr/>
          <p:nvPr/>
        </p:nvSpPr>
        <p:spPr>
          <a:xfrm>
            <a:off x="16916400" y="267004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9C8F"/>
          </a:solidFill>
          <a:ln/>
        </p:spPr>
      </p:sp>
      <p:sp>
        <p:nvSpPr>
          <p:cNvPr id="74" name="Text 65"/>
          <p:cNvSpPr/>
          <p:nvPr/>
        </p:nvSpPr>
        <p:spPr>
          <a:xfrm>
            <a:off x="17419320" y="26645616"/>
            <a:ext cx="1421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2000" dirty="0"/>
          </a:p>
        </p:txBody>
      </p:sp>
      <p:sp>
        <p:nvSpPr>
          <p:cNvPr id="75" name="Shape 66"/>
          <p:cNvSpPr/>
          <p:nvPr/>
        </p:nvSpPr>
        <p:spPr>
          <a:xfrm>
            <a:off x="21991320" y="27569160"/>
            <a:ext cx="1188720" cy="11887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76" name="Text 67"/>
          <p:cNvSpPr/>
          <p:nvPr/>
        </p:nvSpPr>
        <p:spPr>
          <a:xfrm>
            <a:off x="21991320" y="27569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77" name="Text 68"/>
          <p:cNvSpPr/>
          <p:nvPr/>
        </p:nvSpPr>
        <p:spPr>
          <a:xfrm>
            <a:off x="21579840" y="28849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Well-Being</a:t>
            </a:r>
            <a:endParaRPr lang="en-US" sz="1150" dirty="0"/>
          </a:p>
        </p:txBody>
      </p:sp>
      <p:sp>
        <p:nvSpPr>
          <p:cNvPr id="78" name="Shape 69"/>
          <p:cNvSpPr/>
          <p:nvPr/>
        </p:nvSpPr>
        <p:spPr>
          <a:xfrm>
            <a:off x="23682960" y="27569160"/>
            <a:ext cx="1188720" cy="118872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79" name="Text 70"/>
          <p:cNvSpPr/>
          <p:nvPr/>
        </p:nvSpPr>
        <p:spPr>
          <a:xfrm>
            <a:off x="23682960" y="27569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80" name="Text 71"/>
          <p:cNvSpPr/>
          <p:nvPr/>
        </p:nvSpPr>
        <p:spPr>
          <a:xfrm>
            <a:off x="23271480" y="28849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Clean Energy</a:t>
            </a:r>
            <a:endParaRPr lang="en-US" sz="1150" dirty="0"/>
          </a:p>
        </p:txBody>
      </p:sp>
      <p:sp>
        <p:nvSpPr>
          <p:cNvPr id="81" name="Shape 72"/>
          <p:cNvSpPr/>
          <p:nvPr/>
        </p:nvSpPr>
        <p:spPr>
          <a:xfrm>
            <a:off x="25374600" y="27569160"/>
            <a:ext cx="1188720" cy="118872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82" name="Text 73"/>
          <p:cNvSpPr/>
          <p:nvPr/>
        </p:nvSpPr>
        <p:spPr>
          <a:xfrm>
            <a:off x="25374600" y="27569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83" name="Text 74"/>
          <p:cNvSpPr/>
          <p:nvPr/>
        </p:nvSpPr>
        <p:spPr>
          <a:xfrm>
            <a:off x="24963120" y="28849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</a:t>
            </a:r>
            <a:endParaRPr lang="en-US" sz="1150" dirty="0"/>
          </a:p>
        </p:txBody>
      </p:sp>
      <p:sp>
        <p:nvSpPr>
          <p:cNvPr id="84" name="Shape 75"/>
          <p:cNvSpPr/>
          <p:nvPr/>
        </p:nvSpPr>
        <p:spPr>
          <a:xfrm>
            <a:off x="21991320" y="29809440"/>
            <a:ext cx="1188720" cy="118872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85" name="Text 76"/>
          <p:cNvSpPr/>
          <p:nvPr/>
        </p:nvSpPr>
        <p:spPr>
          <a:xfrm>
            <a:off x="21991320" y="29809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86" name="Text 77"/>
          <p:cNvSpPr/>
          <p:nvPr/>
        </p:nvSpPr>
        <p:spPr>
          <a:xfrm>
            <a:off x="21579840" y="31089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150" dirty="0"/>
          </a:p>
        </p:txBody>
      </p:sp>
      <p:sp>
        <p:nvSpPr>
          <p:cNvPr id="87" name="Shape 78"/>
          <p:cNvSpPr/>
          <p:nvPr/>
        </p:nvSpPr>
        <p:spPr>
          <a:xfrm>
            <a:off x="23682960" y="29809440"/>
            <a:ext cx="1188720" cy="118872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88" name="Text 79"/>
          <p:cNvSpPr/>
          <p:nvPr/>
        </p:nvSpPr>
        <p:spPr>
          <a:xfrm>
            <a:off x="23682960" y="29809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89" name="Text 80"/>
          <p:cNvSpPr/>
          <p:nvPr/>
        </p:nvSpPr>
        <p:spPr>
          <a:xfrm>
            <a:off x="23271480" y="31089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1150" dirty="0"/>
          </a:p>
        </p:txBody>
      </p:sp>
      <p:sp>
        <p:nvSpPr>
          <p:cNvPr id="90" name="Shape 81"/>
          <p:cNvSpPr/>
          <p:nvPr/>
        </p:nvSpPr>
        <p:spPr>
          <a:xfrm>
            <a:off x="25374600" y="29809440"/>
            <a:ext cx="1188720" cy="118872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91" name="Text 82"/>
          <p:cNvSpPr/>
          <p:nvPr/>
        </p:nvSpPr>
        <p:spPr>
          <a:xfrm>
            <a:off x="25374600" y="29809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92" name="Text 83"/>
          <p:cNvSpPr/>
          <p:nvPr/>
        </p:nvSpPr>
        <p:spPr>
          <a:xfrm>
            <a:off x="24963120" y="31089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150" dirty="0"/>
          </a:p>
        </p:txBody>
      </p:sp>
      <p:sp>
        <p:nvSpPr>
          <p:cNvPr id="93" name="Shape 84"/>
          <p:cNvSpPr/>
          <p:nvPr/>
        </p:nvSpPr>
        <p:spPr>
          <a:xfrm>
            <a:off x="0" y="36118800"/>
            <a:ext cx="32918400" cy="18288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94" name="Text 85"/>
          <p:cNvSpPr/>
          <p:nvPr/>
        </p:nvSpPr>
        <p:spPr>
          <a:xfrm>
            <a:off x="914400" y="36484560"/>
            <a:ext cx="3108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hard-coded in the agent contract  ·  Trained ML, not zero-shot guesses  ·  Grounded RAG for compliance</a:t>
            </a:r>
            <a:endParaRPr lang="en-US" sz="1600" dirty="0"/>
          </a:p>
        </p:txBody>
      </p:sp>
      <p:sp>
        <p:nvSpPr>
          <p:cNvPr id="95" name="Text 86">
            <a:hlinkClick r:id="rId8" tooltip=""/>
          </p:cNvPr>
          <p:cNvSpPr/>
          <p:nvPr/>
        </p:nvSpPr>
        <p:spPr>
          <a:xfrm>
            <a:off x="914400" y="37078920"/>
            <a:ext cx="3108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https://github.com/SahilMD06/HealMatrix-AI   ·   sahilmohammed062004@gmail.com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2026-07-22T23:18:59Z</dcterms:created>
  <dcterms:modified xsi:type="dcterms:W3CDTF">2026-07-22T23:18:59Z</dcterms:modified>
</cp:coreProperties>
</file>