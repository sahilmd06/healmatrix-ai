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hilMD06/HealMatrix-A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image" Target="../media/image-11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hilMD06/HealMatrix-AI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HealMatrix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Sustainable Healthcare Intelligence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Sustainable Hospitals Through Collaborative Agentic 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19956" y="4892040"/>
            <a:ext cx="457200" cy="45720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6" name="Text 4"/>
          <p:cNvSpPr/>
          <p:nvPr/>
        </p:nvSpPr>
        <p:spPr>
          <a:xfrm>
            <a:off x="4219956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78324" y="4892040"/>
            <a:ext cx="457200" cy="45720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8" name="Text 6"/>
          <p:cNvSpPr/>
          <p:nvPr/>
        </p:nvSpPr>
        <p:spPr>
          <a:xfrm>
            <a:off x="4878324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36692" y="4892040"/>
            <a:ext cx="457200" cy="45720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10" name="Text 8"/>
          <p:cNvSpPr/>
          <p:nvPr/>
        </p:nvSpPr>
        <p:spPr>
          <a:xfrm>
            <a:off x="5536692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5060" y="4892040"/>
            <a:ext cx="457200" cy="45720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12" name="Text 10"/>
          <p:cNvSpPr/>
          <p:nvPr/>
        </p:nvSpPr>
        <p:spPr>
          <a:xfrm>
            <a:off x="61950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3428" y="4892040"/>
            <a:ext cx="457200" cy="45720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3428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11796" y="4892040"/>
            <a:ext cx="457200" cy="45720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16" name="Text 14"/>
          <p:cNvSpPr/>
          <p:nvPr/>
        </p:nvSpPr>
        <p:spPr>
          <a:xfrm>
            <a:off x="7511796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0" y="5458968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·  2026</a:t>
            </a:r>
            <a:endParaRPr lang="en-US" sz="1100" dirty="0"/>
          </a:p>
        </p:txBody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7982712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https://github.com/SahilMD06/HealMatrix-AI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4" name="Image 0" descr="/tmp/docgen/icons/problem_tri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73626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453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under pressure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89280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and severity decisions are made from memory under time pressure, not real-time data — risking under-triage.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8" name="Image 1" descr="/tmp/docgen/icons/problem_e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301642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254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tracked blind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317296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water and biomedical waste are logged monthly, if at all — no real-time visibility.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12" name="Image 2" descr="/tmp/docgen/icons/problem_hm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29658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1056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 systems don't reason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445312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hospital software digitises records but never decides or acts on them.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040880" y="1737360"/>
            <a:ext cx="4526280" cy="3291840"/>
          </a:xfrm>
          <a:prstGeom prst="roundRect">
            <a:avLst>
              <a:gd name="adj" fmla="val 3333"/>
            </a:avLst>
          </a:prstGeom>
          <a:solidFill>
            <a:srgbClr val="F2F6F8"/>
          </a:solidFill>
          <a:ln/>
        </p:spPr>
      </p:sp>
      <p:sp>
        <p:nvSpPr>
          <p:cNvPr id="16" name="Text 11"/>
          <p:cNvSpPr/>
          <p:nvPr/>
        </p:nvSpPr>
        <p:spPr>
          <a:xfrm>
            <a:off x="7360920" y="214884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disconnected systems.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real-time decisions.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7360920" y="361188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operations and sustainability operations run separately, in every hospital, today — with no shared system connecting a decision to its environmental consequence.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4" name="Image 0" descr="/tmp/docgen/icons/sol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73626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453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triage + bed allocation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89280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plus hard-coded clinical guardrails — sub-second decisions with full rationale.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8" name="Image 1" descr="/tmp/docgen/icons/sol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301642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254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collaborating agents (LangGraph)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317296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water, waste, medicine, dispatch and more — one shared state, no blind spots.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12" name="Image 2" descr="/tmp/docgen/icons/sol_cr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29658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1056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executive synthesis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445312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agent outputs become one ranked, board-ready action plan, every cycle.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040880" y="1737360"/>
            <a:ext cx="4526280" cy="3291840"/>
          </a:xfrm>
          <a:prstGeom prst="roundRect">
            <a:avLst>
              <a:gd name="adj" fmla="val 3333"/>
            </a:avLst>
          </a:prstGeom>
          <a:solidFill>
            <a:srgbClr val="1F3A5F"/>
          </a:solidFill>
          <a:ln/>
        </p:spPr>
      </p:sp>
      <p:sp>
        <p:nvSpPr>
          <p:cNvPr id="16" name="Text 11"/>
          <p:cNvSpPr/>
          <p:nvPr/>
        </p:nvSpPr>
        <p:spPr>
          <a:xfrm>
            <a:off x="7360920" y="2286000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shared brain for a hospital’s clinical AND environmental decisions.”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2F6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19751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UI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5528" y="254203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· Leaflet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0" y="2514600"/>
            <a:ext cx="502920" cy="0"/>
          </a:xfrm>
          <a:prstGeom prst="line">
            <a:avLst/>
          </a:prstGeom>
          <a:noFill/>
          <a:ln w="28575">
            <a:solidFill>
              <a:srgbClr val="1C9C8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20440" y="182880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2F6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19751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30168" y="254203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/ Async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2514600"/>
            <a:ext cx="502920" cy="0"/>
          </a:xfrm>
          <a:prstGeom prst="line">
            <a:avLst/>
          </a:prstGeom>
          <a:noFill/>
          <a:ln w="28575">
            <a:solidFill>
              <a:srgbClr val="1C9C8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55080" y="182880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2F6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9751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254203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(HealMatrixState)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0" y="2514600"/>
            <a:ext cx="502920" cy="0"/>
          </a:xfrm>
          <a:prstGeom prst="line">
            <a:avLst/>
          </a:prstGeom>
          <a:noFill/>
          <a:ln w="28575">
            <a:solidFill>
              <a:srgbClr val="1C9C8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9720" y="182880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2F6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9448" y="197510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Agents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299448" y="254203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RAG · Gemini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artefacts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37490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770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Arrival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2245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+ Bed Allocation run synchronously — decision ready in under a second, before the patient reaches the ward.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0" y="3749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1C9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8770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Cycle (hourly)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422452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8 agents run over live telemetry; the Executive crew synthesises one ranked action plan.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Agents, One Hospital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507492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12080"/>
              </a:tblGrid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Intelligence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</a:rPr>
                        <a:t>Patient Triage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</a:rPr>
                        <a:t>XGBoost + Gemini rationale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ESI classification, department routing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</a:rPr>
                        <a:t>Disease Forecast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</a:rPr>
                        <a:t>SARIMA / XGBoost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Seasonal outbreak &amp; admission forecasting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</a:rPr>
                        <a:t>Bed Allocation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</a:rPr>
                        <a:t>Constraint solver + LOS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Bed/ICU assignment, discharge prediction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</a:rPr>
                        <a:t>Medicine Intelligence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</a:rPr>
                        <a:t>XGBoost + heuristic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Demand forecast, expiry risk, transfers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</a:rPr>
                        <a:t>Energy Optimization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</a:rPr>
                        <a:t>Gradient-boosted regressor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Load forecast, HVAC setpoints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</a:rPr>
                        <a:t>Water Conservation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</a:rPr>
                        <a:t>IsolationForest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Leak detection, usage forecast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</a:rPr>
                        <a:t>Biomedical Waste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</a:rPr>
                        <a:t>Rules + CPCB RAG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Category classification, pickup scheduling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</a:rPr>
                        <a:t>Carbon Intelligence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</a:rPr>
                        <a:t>Emission-factor engine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Emission accounting, sustainability score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</a:rPr>
                        <a:t>Ambulance Dispatch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</a:rPr>
                        <a:t>Haversine + OSRM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Nearest-hospital routing, priority queue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</a:rPr>
                        <a:t>Executive Decision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B7A"/>
                          </a:solidFill>
                        </a:rPr>
                        <a:t>Gemini + CrewAI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Synthesises all agents into one action plan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You Can Trust, In Under a Second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80160" y="1600200"/>
            <a:ext cx="9601200" cy="1874520"/>
          </a:xfrm>
          <a:prstGeom prst="roundRect">
            <a:avLst>
              <a:gd name="adj" fmla="val 4878"/>
            </a:avLst>
          </a:prstGeom>
          <a:solidFill>
            <a:srgbClr val="F2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Arrival — Triage Result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03920" y="175564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E8604C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17556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 2 · EMERGENT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92%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54480" y="265176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shock index 1.2, SpO₂ 91%, respiratory rate 27 — cardiac presentation, escalate immediately.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280160" y="3749040"/>
            <a:ext cx="9601200" cy="160020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Allocation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1363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C9C8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3913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ICU-BED 14 · MONITORED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54480" y="44348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high acuity requires a monitored bed; nearest available monitored bed selected over general ward.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output — Emergency dashboard. Every field shown is logged to an auditable agent_logs trail.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Real Environmental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31336" y="1783080"/>
            <a:ext cx="1051560" cy="105156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4" name="Text 2"/>
          <p:cNvSpPr/>
          <p:nvPr/>
        </p:nvSpPr>
        <p:spPr>
          <a:xfrm>
            <a:off x="3831336" y="17830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511296" y="2907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Well-Being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68696" y="1783080"/>
            <a:ext cx="1051560" cy="105156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7" name="Text 5"/>
          <p:cNvSpPr/>
          <p:nvPr/>
        </p:nvSpPr>
        <p:spPr>
          <a:xfrm>
            <a:off x="5568696" y="17830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248656" y="2907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&amp;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06056" y="1783080"/>
            <a:ext cx="1051560" cy="105156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10" name="Text 8"/>
          <p:cNvSpPr/>
          <p:nvPr/>
        </p:nvSpPr>
        <p:spPr>
          <a:xfrm>
            <a:off x="7306056" y="17830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986016" y="29077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Infrastructure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31336" y="3931920"/>
            <a:ext cx="1051560" cy="105156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13" name="Text 11"/>
          <p:cNvSpPr/>
          <p:nvPr/>
        </p:nvSpPr>
        <p:spPr>
          <a:xfrm>
            <a:off x="3831336" y="3931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11296" y="50566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68696" y="3931920"/>
            <a:ext cx="1051560" cy="105156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16" name="Text 14"/>
          <p:cNvSpPr/>
          <p:nvPr/>
        </p:nvSpPr>
        <p:spPr>
          <a:xfrm>
            <a:off x="5568696" y="3931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248656" y="50566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06056" y="3931920"/>
            <a:ext cx="1051560" cy="1051560"/>
          </a:xfrm>
          <a:prstGeom prst="ellipse">
            <a:avLst/>
          </a:prstGeom>
          <a:solidFill>
            <a:srgbClr val="1C9C8F"/>
          </a:solidFill>
          <a:ln/>
        </p:spPr>
      </p:sp>
      <p:sp>
        <p:nvSpPr>
          <p:cNvPr id="19" name="Text 17"/>
          <p:cNvSpPr/>
          <p:nvPr/>
        </p:nvSpPr>
        <p:spPr>
          <a:xfrm>
            <a:off x="7306056" y="3931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86016" y="50566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60350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operational decision is scored for its carbon, energy, water and waste consequence.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4" name="Image 0" descr="/tmp/docgen/icons/adv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87342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824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in the contract, not the prompt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20299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override, HVAC clinical limits, cold-chain rules — enforced in code around every agent, and proven by tests that exercise both the trained model AND the fallback path.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8" name="Image 1" descr="/tmp/docgen/icons/adv_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33821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19125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ML, not zero-shot guesses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35387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(ESI) and admissions-forecast run on XGBoost models trained on hospital-realistic data — the LLM adds rationale and synthesis on top, not the decision itself.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754880"/>
            <a:ext cx="566928" cy="566928"/>
          </a:xfrm>
          <a:prstGeom prst="ellipse">
            <a:avLst/>
          </a:prstGeom>
          <a:solidFill>
            <a:srgbClr val="E8604C"/>
          </a:solidFill>
          <a:ln/>
        </p:spPr>
      </p:sp>
      <p:pic>
        <p:nvPicPr>
          <p:cNvPr id="12" name="Image 2" descr="/tmp/docgen/icons/adv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89094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7000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compliance, not hallucinated compliance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50474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waste classification retrieves from a real CPCB knowledge base, and explicitly falls through to manual review when the evidence isn't there.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Modern, Production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39496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4" name="Shape 2"/>
          <p:cNvSpPr/>
          <p:nvPr/>
        </p:nvSpPr>
        <p:spPr>
          <a:xfrm>
            <a:off x="1559052" y="185623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5" name="Image 0" descr="/tmp/docgen/icons/tech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099" y="1958279"/>
            <a:ext cx="362834" cy="3628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" y="25511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374136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8" name="Shape 5"/>
          <p:cNvSpPr/>
          <p:nvPr/>
        </p:nvSpPr>
        <p:spPr>
          <a:xfrm>
            <a:off x="4393692" y="185623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9" name="Image 1" descr="/tmp/docgen/icons/tech_fasta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39" y="1958279"/>
            <a:ext cx="362834" cy="3628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74136" y="25511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08776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12" name="Shape 8"/>
          <p:cNvSpPr/>
          <p:nvPr/>
        </p:nvSpPr>
        <p:spPr>
          <a:xfrm>
            <a:off x="7228332" y="185623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13" name="Image 2" descr="/tmp/docgen/icons/tech_re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379" y="1958279"/>
            <a:ext cx="362834" cy="3628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08776" y="25511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9043416" y="1691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16" name="Shape 11"/>
          <p:cNvSpPr/>
          <p:nvPr/>
        </p:nvSpPr>
        <p:spPr>
          <a:xfrm>
            <a:off x="10062972" y="185623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17" name="Image 3" descr="/tmp/docgen/icons/tech_tailwi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5019" y="1958279"/>
            <a:ext cx="362834" cy="3628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43416" y="25511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39496" y="33375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20" name="Shape 14"/>
          <p:cNvSpPr/>
          <p:nvPr/>
        </p:nvSpPr>
        <p:spPr>
          <a:xfrm>
            <a:off x="1559052" y="350215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21" name="Image 4" descr="/tmp/docgen/icons/tech_mon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099" y="3604199"/>
            <a:ext cx="362834" cy="3628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9496" y="41970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3374136" y="33375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24" name="Shape 17"/>
          <p:cNvSpPr/>
          <p:nvPr/>
        </p:nvSpPr>
        <p:spPr>
          <a:xfrm>
            <a:off x="4393692" y="350215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25" name="Image 5" descr="/tmp/docgen/icons/tech_redi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739" y="3604199"/>
            <a:ext cx="362834" cy="36283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374136" y="41970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208776" y="33375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28" name="Shape 20"/>
          <p:cNvSpPr/>
          <p:nvPr/>
        </p:nvSpPr>
        <p:spPr>
          <a:xfrm>
            <a:off x="7228332" y="350215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29" name="Image 6" descr="/tmp/docgen/icons/tech_dock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379" y="3604199"/>
            <a:ext cx="362834" cy="36283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08776" y="41970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9043416" y="333756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32" name="Shape 23"/>
          <p:cNvSpPr/>
          <p:nvPr/>
        </p:nvSpPr>
        <p:spPr>
          <a:xfrm>
            <a:off x="10062972" y="350215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33" name="Image 7" descr="/tmp/docgen/icons/tech_googleclou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5019" y="3604199"/>
            <a:ext cx="362834" cy="36283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43416" y="41970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539496" y="49834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36" name="Shape 26"/>
          <p:cNvSpPr/>
          <p:nvPr/>
        </p:nvSpPr>
        <p:spPr>
          <a:xfrm>
            <a:off x="1559052" y="514807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37" name="Image 8" descr="/tmp/docgen/icons/tech_langchai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1099" y="5250119"/>
            <a:ext cx="362834" cy="36283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39496" y="58430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39" name="Shape 28"/>
          <p:cNvSpPr/>
          <p:nvPr/>
        </p:nvSpPr>
        <p:spPr>
          <a:xfrm>
            <a:off x="3374136" y="49834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40" name="Shape 29"/>
          <p:cNvSpPr/>
          <p:nvPr/>
        </p:nvSpPr>
        <p:spPr>
          <a:xfrm>
            <a:off x="4393692" y="514807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41" name="Image 9" descr="/tmp/docgen/icons/tech_verce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5739" y="5250119"/>
            <a:ext cx="362834" cy="36283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3374136" y="58430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50" dirty="0"/>
          </a:p>
        </p:txBody>
      </p:sp>
      <p:sp>
        <p:nvSpPr>
          <p:cNvPr id="43" name="Shape 31"/>
          <p:cNvSpPr/>
          <p:nvPr/>
        </p:nvSpPr>
        <p:spPr>
          <a:xfrm>
            <a:off x="6208776" y="49834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44" name="Shape 32"/>
          <p:cNvSpPr/>
          <p:nvPr/>
        </p:nvSpPr>
        <p:spPr>
          <a:xfrm>
            <a:off x="7228332" y="514807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45" name="Image 10" descr="/tmp/docgen/icons/tech_rend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0379" y="5250119"/>
            <a:ext cx="362834" cy="36283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6208776" y="58430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50" dirty="0"/>
          </a:p>
        </p:txBody>
      </p:sp>
      <p:sp>
        <p:nvSpPr>
          <p:cNvPr id="47" name="Shape 34"/>
          <p:cNvSpPr/>
          <p:nvPr/>
        </p:nvSpPr>
        <p:spPr>
          <a:xfrm>
            <a:off x="9043416" y="498348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2F6F8"/>
          </a:solidFill>
          <a:ln/>
        </p:spPr>
      </p:sp>
      <p:sp>
        <p:nvSpPr>
          <p:cNvPr id="48" name="Shape 35"/>
          <p:cNvSpPr/>
          <p:nvPr/>
        </p:nvSpPr>
        <p:spPr>
          <a:xfrm>
            <a:off x="10062972" y="5148072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49" name="Image 11" descr="/tmp/docgen/icons/tech_githubaction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65019" y="5250119"/>
            <a:ext cx="362834" cy="362834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9043416" y="58430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51" name="Text 3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A Verified Build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85216" y="21031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85216" y="3246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19856" y="21031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419856" y="3246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54496" y="21031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254496" y="3246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89136" y="21031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089136" y="32461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caught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fixed in verification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suite runs against an in-memory database — zero external services required to prove it works.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Blueprint To Pilot-Ready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06424" y="2660904"/>
            <a:ext cx="9976104" cy="0"/>
          </a:xfrm>
          <a:prstGeom prst="line">
            <a:avLst/>
          </a:prstGeom>
          <a:noFill/>
          <a:ln w="25400">
            <a:solidFill>
              <a:srgbClr val="CBD5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5" name="Image 0" descr="/tmp/docgen/icons/roadmap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668" y="2468148"/>
            <a:ext cx="385511" cy="3855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0815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48118" y="237744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8" name="Image 1" descr="/tmp/docgen/icons/roadmap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826" y="2468148"/>
            <a:ext cx="385511" cy="3855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45198" y="30815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Sim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73275" y="237744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11" name="Image 2" descr="/tmp/docgen/icons/roadmap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984" y="2468148"/>
            <a:ext cx="385511" cy="3855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70355" y="30815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+ AI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98433" y="237744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14" name="Image 3" descr="/tmp/docgen/icons/roadmap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142" y="2468148"/>
            <a:ext cx="385511" cy="38551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95513" y="30815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523591" y="237744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17" name="Image 4" descr="/tmp/docgen/icons/roadmap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299" y="2468148"/>
            <a:ext cx="385511" cy="38551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020671" y="30815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7948749" y="237744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20" name="Image 5" descr="/tmp/docgen/icons/roadmap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457" y="2468148"/>
            <a:ext cx="385511" cy="38551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45829" y="30815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+ CI/CD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9373906" y="2377440"/>
            <a:ext cx="566928" cy="566928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23" name="Image 6" descr="/tmp/docgen/icons/roadmap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615" y="2468148"/>
            <a:ext cx="385511" cy="385511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870986" y="30815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10799064" y="2377440"/>
            <a:ext cx="566928" cy="5669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6" name="Text 17"/>
          <p:cNvSpPr/>
          <p:nvPr/>
        </p:nvSpPr>
        <p:spPr>
          <a:xfrm>
            <a:off x="10799064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10296144" y="308152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731520" y="4480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1–7 shipped and verified. Phase 8 (this deck, the Lean Canvas, concept note &amp; demo script) is the final step to pilot-ready.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82996" y="1371600"/>
            <a:ext cx="822960" cy="82296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4" name="Image 0" descr="/tmp/docgen/icons/ask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506" y="156911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2423160"/>
            <a:ext cx="8897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looking for one hospital partner to run HealMatrix AI in shadow mode for a quarter — agent recommendations shown alongside existing clinical workflow, zero autonomous action until trust is earned.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539496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" y="393192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hospital partner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0664" y="452628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run agent recommendations in shadow mode alongside existing workflow.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4256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</p:spPr>
      </p:sp>
      <p:sp>
        <p:nvSpPr>
          <p:cNvPr id="10" name="Text 7"/>
          <p:cNvSpPr/>
          <p:nvPr/>
        </p:nvSpPr>
        <p:spPr>
          <a:xfrm>
            <a:off x="4535424" y="393192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+ sustainability sponsor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35424" y="452628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can validate triage/bed recommendations and sustainability actions against ground truth.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29016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8330184" y="393192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feedback loop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330184" y="452628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cases to refine guardrails and fallback behaviour together, before any autonomous action.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7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728716" y="3063240"/>
            <a:ext cx="731520" cy="731520"/>
          </a:xfrm>
          <a:prstGeom prst="ellipse">
            <a:avLst/>
          </a:prstGeom>
          <a:solidFill>
            <a:srgbClr val="1C9C8F"/>
          </a:solidFill>
          <a:ln/>
        </p:spPr>
      </p:sp>
      <p:pic>
        <p:nvPicPr>
          <p:cNvPr id="4" name="Image 0" descr="/tmp/docgen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4281" y="3238805"/>
            <a:ext cx="380390" cy="380390"/>
          </a:xfrm>
          <a:prstGeom prst="rect">
            <a:avLst/>
          </a:prstGeom>
        </p:spPr>
      </p:pic>
      <p:sp>
        <p:nvSpPr>
          <p:cNvPr id="5" name="Text 2">
            <a:hlinkClick r:id="rId2" tooltip=""/>
          </p:cNvPr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https://github.com/SahilMD06/HealMatrix-AI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tests, docs &amp; deployment configs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 ·  sahilmohammed062004@gmail.com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2026-07-22T23:14:12Z</dcterms:created>
  <dcterms:modified xsi:type="dcterms:W3CDTF">2026-07-22T23:14:12Z</dcterms:modified>
</cp:coreProperties>
</file>